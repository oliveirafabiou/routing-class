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B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B3A"/>
                </a:solidFill>
                <a:latin typeface="Arial"/>
              </a:rPr>
              <a:t>Tráfego de controle em regime (bit/s, rede toda)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Tráfego de controle em regime (bit/s, rede toda)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C72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D84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RIP</c:v>
                  </c:pt>
                  <c:pt idx="1">
                    <c:v>OSPF</c:v>
                  </c:pt>
                  <c:pt idx="2">
                    <c:v>RTT-LS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5506</c:v>
                </c:pt>
                <c:pt idx="1">
                  <c:v>3867</c:v>
                </c:pt>
                <c:pt idx="2">
                  <c:v>13091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B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B3A"/>
                </a:solidFill>
                <a:latin typeface="Arial"/>
              </a:rPr>
              <a:t>Tempo sem conectividade após a falha (s, média de 3)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sem conectividade após a falha (s, média de 3)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C72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D84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RIP</c:v>
                  </c:pt>
                  <c:pt idx="1">
                    <c:v>OSPF</c:v>
                  </c:pt>
                  <c:pt idx="2">
                    <c:v>RTT-LS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4.4</c:v>
                </c:pt>
                <c:pt idx="1">
                  <c:v>1.4</c:v>
                </c:pt>
                <c:pt idx="2">
                  <c:v>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Roteamento IP: RIP × OSPF × RTT-LS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em uma topologia em anel com 5 roteadores (Podman + BIRD)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Sistemas Operacionais · Unisinos · Prof. Cristiano Bonato Both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Fábio e [nome da dupla]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Topologia: anel de 5 roteadores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0" y="1600200"/>
            <a:ext cx="2560320" cy="109728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2011680" y="1600200"/>
            <a:ext cx="2560320" cy="109728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6126480" y="2697480"/>
            <a:ext cx="1005840" cy="146304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4160520"/>
            <a:ext cx="3108960" cy="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697480"/>
            <a:ext cx="1005840" cy="146304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23560" y="2011680"/>
            <a:ext cx="1188720" cy="256032"/>
          </a:xfrm>
          <a:prstGeom prst="rect">
            <a:avLst/>
          </a:prstGeom>
          <a:solidFill>
            <a:srgbClr val="F5F8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10.0.12.0/30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011680"/>
            <a:ext cx="1188720" cy="256032"/>
          </a:xfrm>
          <a:prstGeom prst="rect">
            <a:avLst/>
          </a:prstGeom>
          <a:solidFill>
            <a:srgbClr val="F5F8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10.0.51.0/30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3337560"/>
            <a:ext cx="1188720" cy="256032"/>
          </a:xfrm>
          <a:prstGeom prst="rect">
            <a:avLst/>
          </a:prstGeom>
          <a:solidFill>
            <a:srgbClr val="F5F8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10.0.23.0/30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4343400"/>
            <a:ext cx="1188720" cy="256032"/>
          </a:xfrm>
          <a:prstGeom prst="rect">
            <a:avLst/>
          </a:prstGeom>
          <a:solidFill>
            <a:srgbClr val="F5F8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10.0.34.0/30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337560"/>
            <a:ext cx="1188720" cy="256032"/>
          </a:xfrm>
          <a:prstGeom prst="rect">
            <a:avLst/>
          </a:prstGeom>
          <a:solidFill>
            <a:srgbClr val="F5F8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10.0.45.0/30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94760" y="1307592"/>
            <a:ext cx="1554480" cy="585216"/>
          </a:xfrm>
          <a:prstGeom prst="roundRect">
            <a:avLst>
              <a:gd name="adj" fmla="val 15625"/>
            </a:avLst>
          </a:prstGeom>
          <a:solidFill>
            <a:srgbClr val="12263A"/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94760" y="130759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192.168.1.0/24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5080" y="2404872"/>
            <a:ext cx="1554480" cy="585216"/>
          </a:xfrm>
          <a:prstGeom prst="roundRect">
            <a:avLst>
              <a:gd name="adj" fmla="val 15625"/>
            </a:avLst>
          </a:prstGeom>
          <a:solidFill>
            <a:srgbClr val="12263A"/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240487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192.168.2.0/24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49240" y="3867912"/>
            <a:ext cx="1554480" cy="585216"/>
          </a:xfrm>
          <a:prstGeom prst="roundRect">
            <a:avLst>
              <a:gd name="adj" fmla="val 15625"/>
            </a:avLst>
          </a:prstGeom>
          <a:solidFill>
            <a:srgbClr val="12263A"/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49240" y="386791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192.168.3.0/24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40280" y="3867912"/>
            <a:ext cx="1554480" cy="585216"/>
          </a:xfrm>
          <a:prstGeom prst="roundRect">
            <a:avLst>
              <a:gd name="adj" fmla="val 15625"/>
            </a:avLst>
          </a:prstGeom>
          <a:solidFill>
            <a:srgbClr val="12263A"/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40280" y="386791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192.168.4.0/24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234440" y="2404872"/>
            <a:ext cx="1554480" cy="585216"/>
          </a:xfrm>
          <a:prstGeom prst="roundRect">
            <a:avLst>
              <a:gd name="adj" fmla="val 15625"/>
            </a:avLst>
          </a:prstGeom>
          <a:solidFill>
            <a:srgbClr val="12263A"/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34440" y="240487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192.168.5.0/24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1097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enlace é uma rede /30 própria; cada LAN tem um host (.10).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caminhos entre quaisquer roteadores.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e segmentação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 rootless: 10 containers (5 roteadores, 5 hosts) e 10 redes virtuais internas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2.0.12 como plataforma de roteamento; tcpdump e traceroute nos containers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roteador só participa das suas 3 redes: R1 não tem a rede R2-R3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roteamento, ping R1 → 10.0.23.2 falha: não há camada 2 direta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de enlace: ip link set down na interface, sem parar o roteador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mecanismo por vez: routing.sh para todos antes de iniciar o escolhido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Protocolos de referência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 (vetor de distância)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RIPv2, multicast 224.0.0.9, UDP 520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Métrica: número de saltos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update leva a tabela inteira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Timers: update 5 s, timeout 20 s (padrão 30 s / 180 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8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OSPF (estado de enlace)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78308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0, enlaces ptp (sem eleição de DR)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10 por enlace, Dijkstra em cada roteador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leve (~67 B), LSAs só em mudanças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Timers: hello 2 s, dead 8 s (padrão 10 s / 40 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 próprio: RTT-LS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enlace distribuído em Python, UDP/5000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o RTT de cada vizinho (1 ping por segundo, média móvel α = 0,3)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do enlace = 1 + RTT em ms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inundados; cada roteador roda Dijkstra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instaladas com ip route (proto 99)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Critério: menor custo total, desempate pelo menor id do próximo salto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0" y="137160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1226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4630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= 1 + RTT</a:t>
            </a:r>
            <a:endParaRPr lang="en-US" sz="22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o caminho mais rápido medido, não o de menos saltos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RTT-LS: decisões de projeto e limitações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unicast: sem depender de multicast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Reanuncia só se o custo variar mais de 25%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só vale se os dois lados o anunciam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de sequência e expiração de 30 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1 s, dead 3 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78308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ativa gera tráfego contínuo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balanceamento entre caminhos iguais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autenticação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em JSON, formato pouco compacto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Inundação simples: não escala bem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das métricas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Pacotes e bytes de controle: tcpdump só no que cada roteador envia, filtrado por protocolo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fases: 30 s de convergência inicial e 60 s em regime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roteamento: ip route em cada roteador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Delay: ping host1 → host3 e host1 → host4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Convergência: ping a cada 200 ms, queda do enlace R2-R3, 3 repetições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extra: +30 ms de RTT no enlace R2-R3 (netem)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custo de controle e convergência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09728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 com resolução de 0,2 s; falha com as duas pontas do enlace derrubadas.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dos mecanismos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828800"/>
                <a:gridCol w="192024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OSPF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RTT-LS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Princípio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Vetor de distância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de enlace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de enlace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Seleção de rotas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saltos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custo configurado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RTT medido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 (pkt/s, rede toda)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Convergência na falha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RTT com enlace lento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30,04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0,024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Escalabilidade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(15 saltos)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(áreas)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(inundação simples)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(implementação própria)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RIP: simples e barato, mas o mais lento para reconvergir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OSPF: equilíbrio entre controle baixo e reação rápida; não percebe latência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RTT-LS: reage à latência e reconverge rápido, ao custo de tráfego de medição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vence em tudo: a escolha depende do cenário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configs, métricas e vídeo: github.com/Oliveirafabiou/routing-class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2026-09-30T22:14:29Z</dcterms:created>
  <dcterms:modified xsi:type="dcterms:W3CDTF">2026-09-30T22:14:29Z</dcterms:modified>
</cp:coreProperties>
</file>